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jDKcsdbRRJzvVk0fyblM0xHTRP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Portada. Presentar el proyecto y a los integrantes. Duración total del taller: 40 minutos.</a:t>
            </a:r>
            <a:endParaRPr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tres pilares del sistema. Enfatizar la regla de oro: la venta nunca se bloquea (offline-first). El comprobante se emite al instante (emisión simulada); la integración con el SII queda como trabajo futuro.</a:t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Explicar que excluir contabilidad, RRHH, finanzas y CRM no es una limitación: es la decisión que hace el proyecto entregable en un semestre y sostiene la propuesta de valor.</a:t>
            </a:r>
            <a:endParaRPr/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" name="Google Shape;6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Cerrar reforzando la regla de oro: la operación offline y el comprobante de venta están en los tres planes; la primera caja va incluida.</a:t>
            </a:r>
            <a:endParaRPr/>
          </a:p>
        </p:txBody>
      </p:sp>
      <p:sp>
        <p:nvSpPr>
          <p:cNvPr id="65" name="Google Shape;6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:notes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323A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7315200" y="-1280160"/>
            <a:ext cx="3291840" cy="3291840"/>
          </a:xfrm>
          <a:prstGeom prst="ellipse">
            <a:avLst/>
          </a:prstGeom>
          <a:solidFill>
            <a:srgbClr val="028090">
              <a:alpha val="30196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8138160" y="3566160"/>
            <a:ext cx="2377440" cy="2377440"/>
          </a:xfrm>
          <a:prstGeom prst="ellipse">
            <a:avLst/>
          </a:prstGeom>
          <a:solidFill>
            <a:srgbClr val="02C39A">
              <a:alpha val="2000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640080" y="685800"/>
            <a:ext cx="6583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PROYECTO APT — CAPSTONE (PTY4614)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640080" y="1143000"/>
            <a:ext cx="6675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148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mbria"/>
              <a:buNone/>
            </a:pPr>
            <a:r>
              <a:rPr b="1" lang="en-US" sz="5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Walkan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640080" y="2606040"/>
            <a:ext cx="6675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CDE"/>
              </a:buClr>
              <a:buSzPts val="1500"/>
              <a:buFont typeface="Calibri"/>
              <a:buNone/>
            </a:pPr>
            <a:r>
              <a:rPr lang="en-US" sz="1500">
                <a:solidFill>
                  <a:srgbClr val="C9DCDE"/>
                </a:solidFill>
                <a:latin typeface="Calibri"/>
                <a:ea typeface="Calibri"/>
                <a:cs typeface="Calibri"/>
                <a:sym typeface="Calibri"/>
              </a:rPr>
              <a:t>Bodega, punto de venta y comprobante que funciona sin internet y sincroniza a la nube — para el comercio minorista chileno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40080" y="3246120"/>
            <a:ext cx="1005840" cy="274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352044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Integrantes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384048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Álvaro Barrera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640080" y="4187952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Franco Núñez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206240" y="4187952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A9AC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8FA9AC"/>
                </a:solidFill>
                <a:latin typeface="Calibri"/>
                <a:ea typeface="Calibri"/>
                <a:cs typeface="Calibri"/>
                <a:sym typeface="Calibri"/>
              </a:rPr>
              <a:t>Evaluación Formativa · Fase 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/>
          <p:nvPr/>
        </p:nvSpPr>
        <p:spPr>
          <a:xfrm>
            <a:off x="548640" y="41148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323A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02323A"/>
                </a:solidFill>
                <a:latin typeface="Cambria"/>
                <a:ea typeface="Cambria"/>
                <a:cs typeface="Cambria"/>
                <a:sym typeface="Cambria"/>
              </a:rPr>
              <a:t>¿En qué consiste el proyecto?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548640" y="1143000"/>
            <a:ext cx="397764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333F41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Un sistema que reúne en un solo equipo el control de bodega, el punto de venta y la emisión del comprobante de venta, y que funciona sin internet dentro del local.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1000"/>
              </a:spcBef>
              <a:spcAft>
                <a:spcPts val="0"/>
              </a:spcAft>
              <a:buClr>
                <a:srgbClr val="333F41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La caja corre en el local (offline-first) y sincroniza a una nube multi-tenant que atiende a muchos negocios aislando los datos de cada uno. Se adapta al comercio con tres planes escalables.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2857"/>
              </a:lnSpc>
              <a:spcBef>
                <a:spcPts val="1000"/>
              </a:spcBef>
              <a:spcAft>
                <a:spcPts val="0"/>
              </a:spcAft>
              <a:buClr>
                <a:srgbClr val="333F41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Le da a un almacén o minimarket el mismo control de stock y de caja que tiene un supermercado, sin el peso administrativo de un ERP.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777240" y="3931920"/>
            <a:ext cx="35661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Calibri"/>
              <a:buNone/>
            </a:pPr>
            <a:r>
              <a:t/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892040" y="1143000"/>
            <a:ext cx="370332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C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074920" y="139903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074920" y="13990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5669280" y="1280160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323A"/>
              </a:buClr>
              <a:buSzPts val="1350"/>
              <a:buFont typeface="Calibri"/>
              <a:buNone/>
            </a:pPr>
            <a:r>
              <a:rPr b="1" lang="en-US" sz="1350">
                <a:solidFill>
                  <a:srgbClr val="02323A"/>
                </a:solidFill>
                <a:latin typeface="Calibri"/>
                <a:ea typeface="Calibri"/>
                <a:cs typeface="Calibri"/>
                <a:sym typeface="Calibri"/>
              </a:rPr>
              <a:t>Bodega e inventario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669280" y="155448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A6A6D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Productos, stock, entradas y salidas, recepción, alertas y trazabilidad.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892040" y="2286000"/>
            <a:ext cx="370332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C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5074920" y="254203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074920" y="25420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5669280" y="2423160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323A"/>
              </a:buClr>
              <a:buSzPts val="1350"/>
              <a:buFont typeface="Calibri"/>
              <a:buNone/>
            </a:pPr>
            <a:r>
              <a:rPr b="1" lang="en-US" sz="1350">
                <a:solidFill>
                  <a:srgbClr val="02323A"/>
                </a:solidFill>
                <a:latin typeface="Calibri"/>
                <a:ea typeface="Calibri"/>
                <a:cs typeface="Calibri"/>
                <a:sym typeface="Calibri"/>
              </a:rPr>
              <a:t>Comprobante de venta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669280" y="269748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A6A6D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Numeración correlativa y cola de emisión con reintentos (emisión simulada en esta versión). La integración con el SII queda como trabajo futuro.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4892040" y="3429000"/>
            <a:ext cx="370332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C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5074920" y="368503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5074920" y="36850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5669280" y="3566160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323A"/>
              </a:buClr>
              <a:buSzPts val="1350"/>
              <a:buFont typeface="Calibri"/>
              <a:buNone/>
            </a:pPr>
            <a:r>
              <a:rPr b="1" lang="en-US" sz="1350">
                <a:solidFill>
                  <a:srgbClr val="02323A"/>
                </a:solidFill>
                <a:latin typeface="Calibri"/>
                <a:ea typeface="Calibri"/>
                <a:cs typeface="Calibri"/>
                <a:sym typeface="Calibri"/>
              </a:rPr>
              <a:t>Punto de venta y caja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669280" y="384048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5A6A6D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La venta descuenta stock y emite el comprobante; apertura y cierre de caja.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/>
          <p:nvPr/>
        </p:nvSpPr>
        <p:spPr>
          <a:xfrm>
            <a:off x="548640" y="36576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323A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02323A"/>
                </a:solidFill>
                <a:latin typeface="Cambria"/>
                <a:ea typeface="Cambria"/>
                <a:cs typeface="Cambria"/>
                <a:sym typeface="Cambria"/>
              </a:rPr>
              <a:t>Alcance del proyecto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8640" y="841248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6D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El alcance está delimitado por escrito: es lo que hace el proyecto factible en un semestre.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548640" y="1298448"/>
            <a:ext cx="3931920" cy="3291840"/>
          </a:xfrm>
          <a:prstGeom prst="roundRect">
            <a:avLst>
              <a:gd fmla="val 2222" name="adj"/>
            </a:avLst>
          </a:prstGeom>
          <a:solidFill>
            <a:srgbClr val="F2F7F7"/>
          </a:solidFill>
          <a:ln cap="flat" cmpd="sng" w="12700">
            <a:solidFill>
              <a:srgbClr val="DC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777240" y="1508760"/>
            <a:ext cx="310896" cy="310896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777240" y="150876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88720" y="153619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DENTRO DEL ALCANCE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822960" y="1965960"/>
            <a:ext cx="34290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333F41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Bodega e inventario: productos, stock, movimientos, recepción de compras y alertas de stock mínimo.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333F41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Comprobante de venta: numeración correlativa y cola de emisión con reintentos (emisión simulada).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333F41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Punto de venta y caja offline: la venta nunca se bloquea; descuenta stock y emite el comprobante.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333F41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Multi-tenant: panel de administración y de cliente, usuarios y roles.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333F41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333F41"/>
                </a:solidFill>
                <a:latin typeface="Calibri"/>
                <a:ea typeface="Calibri"/>
                <a:cs typeface="Calibri"/>
                <a:sym typeface="Calibri"/>
              </a:rPr>
              <a:t>Periféricos: lector de código de barras e impresora térmica de 58 mm.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63440" y="1298448"/>
            <a:ext cx="3931920" cy="3291840"/>
          </a:xfrm>
          <a:prstGeom prst="roundRect">
            <a:avLst>
              <a:gd fmla="val 2222" name="adj"/>
            </a:avLst>
          </a:prstGeom>
          <a:solidFill>
            <a:srgbClr val="FFFFFF"/>
          </a:solidFill>
          <a:ln cap="flat" cmpd="sng" w="12700">
            <a:solidFill>
              <a:srgbClr val="DC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892040" y="1508760"/>
            <a:ext cx="310896" cy="310896"/>
          </a:xfrm>
          <a:prstGeom prst="ellipse">
            <a:avLst/>
          </a:prstGeom>
          <a:solidFill>
            <a:srgbClr val="9BAA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892040" y="150876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✕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5303520" y="153619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6D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FUERA DEL ALCANCE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937760" y="1965960"/>
            <a:ext cx="34290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A6A6D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Contabilidad completa: libro mayor, balances y estados financieros.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5A6A6D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Recursos humanos y remuneraciones.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5A6A6D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Módulo financiero y tesorería.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5A6A6D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CRM y gestión comercial de clientes.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5A6A6D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Comercio electrónico y venta en línea.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30434"/>
              </a:lnSpc>
              <a:spcBef>
                <a:spcPts val="800"/>
              </a:spcBef>
              <a:spcAft>
                <a:spcPts val="0"/>
              </a:spcAft>
              <a:buClr>
                <a:srgbClr val="5A6A6D"/>
              </a:buClr>
              <a:buSzPts val="1150"/>
              <a:buFont typeface="Calibri"/>
              <a:buChar char="•"/>
            </a:pPr>
            <a:r>
              <a:rPr lang="en-US" sz="1150">
                <a:solidFill>
                  <a:srgbClr val="5A6A6D"/>
                </a:solidFill>
                <a:latin typeface="Calibri"/>
                <a:ea typeface="Calibri"/>
                <a:cs typeface="Calibri"/>
                <a:sym typeface="Calibri"/>
              </a:rPr>
              <a:t>Integración real con el SII (firma y envío de DTE): trabajo futuro, fuera del alcance.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323A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"/>
          <p:cNvSpPr/>
          <p:nvPr/>
        </p:nvSpPr>
        <p:spPr>
          <a:xfrm>
            <a:off x="548640" y="45720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Un sistema, tres planes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548640" y="987552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A8C2C5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8C2C5"/>
                </a:solidFill>
                <a:latin typeface="Calibri"/>
                <a:ea typeface="Calibri"/>
                <a:cs typeface="Calibri"/>
                <a:sym typeface="Calibri"/>
              </a:rPr>
              <a:t>El eje de escalamiento es la profundidad del control de bodega. Un negocio que crece cambia de plan, sin migrar de sistema ni perder datos.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548640" y="1783080"/>
            <a:ext cx="2514600" cy="2331720"/>
          </a:xfrm>
          <a:prstGeom prst="roundRect">
            <a:avLst>
              <a:gd fmla="val 3137" name="adj"/>
            </a:avLst>
          </a:prstGeom>
          <a:solidFill>
            <a:srgbClr val="0A4550"/>
          </a:solidFill>
          <a:ln cap="flat" cmpd="sng" w="12700">
            <a:solidFill>
              <a:srgbClr val="186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822960" y="2057400"/>
            <a:ext cx="256032" cy="256032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822960" y="239572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Kiosko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822960" y="272491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Negocio de barrio, una persona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822960" y="3127248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C3D6D9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C3D6D9"/>
                </a:solidFill>
                <a:latin typeface="Calibri"/>
                <a:ea typeface="Calibri"/>
                <a:cs typeface="Calibri"/>
                <a:sym typeface="Calibri"/>
              </a:rPr>
              <a:t>Inventario simple, punto de venta, caja y comprobante — funciona offline.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3264408" y="1783080"/>
            <a:ext cx="2514600" cy="2331720"/>
          </a:xfrm>
          <a:prstGeom prst="roundRect">
            <a:avLst>
              <a:gd fmla="val 3137" name="adj"/>
            </a:avLst>
          </a:prstGeom>
          <a:solidFill>
            <a:srgbClr val="0A4550"/>
          </a:solidFill>
          <a:ln cap="flat" cmpd="sng" w="12700">
            <a:solidFill>
              <a:srgbClr val="186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3538728" y="205740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3538728" y="239572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Minimarket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538728" y="272491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Negocio mediano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3538728" y="3127248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C3D6D9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C3D6D9"/>
                </a:solidFill>
                <a:latin typeface="Calibri"/>
                <a:ea typeface="Calibri"/>
                <a:cs typeface="Calibri"/>
                <a:sym typeface="Calibri"/>
              </a:rPr>
              <a:t>Proveedores, recepción de compras, alertas de stock, lotes, vencimientos y códigos de barras.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80176" y="1783080"/>
            <a:ext cx="2514600" cy="2331720"/>
          </a:xfrm>
          <a:prstGeom prst="roundRect">
            <a:avLst>
              <a:gd fmla="val 3137" name="adj"/>
            </a:avLst>
          </a:prstGeom>
          <a:solidFill>
            <a:srgbClr val="0A4550"/>
          </a:solidFill>
          <a:ln cap="flat" cmpd="sng" w="12700">
            <a:solidFill>
              <a:srgbClr val="186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6254496" y="205740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254496" y="239572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Minisúper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6254496" y="272491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Varias cajas o sucursales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254496" y="3127248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C3D6D9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C3D6D9"/>
                </a:solidFill>
                <a:latin typeface="Calibri"/>
                <a:ea typeface="Calibri"/>
                <a:cs typeface="Calibri"/>
                <a:sym typeface="Calibri"/>
              </a:rPr>
              <a:t>Múltiples bodegas, ubicaciones, kardex, promociones y analítica.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El comprobante de venta y la operación offline están en los tres planes; la primera caja va incluida.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323A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/>
          <p:nvPr/>
        </p:nvSpPr>
        <p:spPr>
          <a:xfrm>
            <a:off x="548640" y="45720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Stack de desarrollo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548640" y="987552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A8C2C5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8C2C5"/>
                </a:solidFill>
                <a:latin typeface="Calibri"/>
                <a:ea typeface="Calibri"/>
                <a:cs typeface="Calibri"/>
                <a:sym typeface="Calibri"/>
              </a:rPr>
              <a:t>Lenguajes, herramientas y servicios con los que se construye y opera Walkan.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548640" y="1783080"/>
            <a:ext cx="2514600" cy="2331720"/>
          </a:xfrm>
          <a:prstGeom prst="roundRect">
            <a:avLst>
              <a:gd fmla="val 3137" name="adj"/>
            </a:avLst>
          </a:prstGeom>
          <a:solidFill>
            <a:srgbClr val="0A4550"/>
          </a:solidFill>
          <a:ln cap="flat" cmpd="sng" w="12700">
            <a:solidFill>
              <a:srgbClr val="186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22960" y="2057400"/>
            <a:ext cx="256032" cy="256032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822960" y="239572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Lenguajes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822960" y="272491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00A896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00A896"/>
                </a:solidFill>
                <a:latin typeface="Calibri"/>
                <a:ea typeface="Calibri"/>
                <a:cs typeface="Calibri"/>
                <a:sym typeface="Calibri"/>
              </a:rPr>
              <a:t>Con qué está escrito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822960" y="3127248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C3D6D9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C3D6D9"/>
                </a:solidFill>
                <a:latin typeface="Calibri"/>
                <a:ea typeface="Calibri"/>
                <a:cs typeface="Calibri"/>
                <a:sym typeface="Calibri"/>
              </a:rPr>
              <a:t>TypeScript (backend), JavaScript (caja), SQL (datos) y HTML/CSS (vistas).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3264408" y="1783080"/>
            <a:ext cx="2514600" cy="2331720"/>
          </a:xfrm>
          <a:prstGeom prst="roundRect">
            <a:avLst>
              <a:gd fmla="val 3137" name="adj"/>
            </a:avLst>
          </a:prstGeom>
          <a:solidFill>
            <a:srgbClr val="0A4550"/>
          </a:solidFill>
          <a:ln cap="flat" cmpd="sng" w="12700">
            <a:solidFill>
              <a:srgbClr val="186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3538728" y="205740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3538728" y="239572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3538728" y="272491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Frameworks y librerías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538728" y="3127248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C3D6D9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C3D6D9"/>
                </a:solidFill>
                <a:latin typeface="Calibri"/>
                <a:ea typeface="Calibri"/>
                <a:cs typeface="Calibri"/>
                <a:sym typeface="Calibri"/>
              </a:rPr>
              <a:t>NestJS + Fastify sobre Node.js, better-sqlite3 (SQLite/WAL), EJS, systemd y Git.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5980176" y="1783080"/>
            <a:ext cx="2514600" cy="2331720"/>
          </a:xfrm>
          <a:prstGeom prst="roundRect">
            <a:avLst>
              <a:gd fmla="val 3137" name="adj"/>
            </a:avLst>
          </a:prstGeom>
          <a:solidFill>
            <a:srgbClr val="0A4550"/>
          </a:solidFill>
          <a:ln cap="flat" cmpd="sng" w="12700">
            <a:solidFill>
              <a:srgbClr val="1860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6254496" y="205740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6254496" y="2395728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Servicios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6254496" y="272491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i="1"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Infraestructura y apoyos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6254496" y="3127248"/>
            <a:ext cx="20116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C3D6D9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C3D6D9"/>
                </a:solidFill>
                <a:latin typeface="Calibri"/>
                <a:ea typeface="Calibri"/>
                <a:cs typeface="Calibri"/>
                <a:sym typeface="Calibri"/>
              </a:rPr>
              <a:t>Flow (pagos), GitLab (repositorio), un VPS para la nube y el TV Box de la caja.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Offline-first: la caja corre en el local sin depender de internet y sincroniza a la nube.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rq_capas.png" id="111" name="Google Shape;11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2026-08-21T20:53:10Z</dcterms:created>
  <dc:creator>PptxGenJS</dc:creator>
</cp:coreProperties>
</file>